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 tardes. Mi proyecto es DAuto, una plataforma de compra y venta de autos usados. Esta presentación cubre los cinco bloques de la entrega: módulo con JWT y roles, pipeline CI/CD, pruebas de seguridad y calidad con ZAP y SonarCloud, el cierre del proyecto, y el plan de mejora. Repositorio y app en línea quedan arriba por si alguien quiere seguirlo en vivo. [0:00]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DAuto nace de un problema real: comprar o vender un auto usado en México hoy implica llamarle a varias agencias y que ninguna diga el precio real por teléfono. El acta de constitución, adv_pr.pdf, plantea catálogo, historial y financiamiento en un solo lugar. Para esta entrega el objetivo no era cubrir todo el alcance, sino priorizar calidad, seguridad y CI/CD sobre un módulo real: cuentas con JWT y roles, y como adelanto, el catálogo de vehículos completo. 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backend firma JWT con HS256 y fija el algoritmo también al verificar, para no aceptar un token HS512 o sin firma — es una mitigación real de un ataque conocido de confusión de algoritmo. Las contraseñas usan bcrypt. Hay tres roles reales del dominio: administrador, concesionaria y comprador, y nadie puede auto-asignarse admin desde el registro público. Aquí se ve la landing corriendo ya en producción, en Render. [2:15]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Publicar, consultar, filtrar y administrar autos, con control de propiedad: cada concesionaria solo modifica sus autos, y un auto vendido deja de aparecer en el catálogo público. Todavía no hay fotos reales, cada auto usa una ilustración generada de sus datos, y la ficha lo dice honestamente. En pruebas: 130 en el backend con 100% de líneas — el mínimo pedido era 80% — y 143 en el frontend con 97.8%. Cierra el primer bloque de la entrega, autenticación y seguridad. [3:00]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workflow de CI/CD tiene cinco jobs encadenados: pruebas del backend con cobertura, pruebas y build del frontend, construcción de la imagen Docker completa, un smoke test real del contenedor publicado — no un mock — y finalmente el disparo opcional del despliegue en Render. Todo corre en cada push a main. [4:30]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una corrida real del pipeline en GitHub, no una simulación: el job de pruebas reporta 143 pruebas de frontend pasando, y tanto el escaneo de seguridad como el análisis de calidad terminan en verde. El smoke test del bloque anterior corre en el job deploy-test-env, contra la imagen Docker que acaba de publicarse — arranca el contenedor y valida con curl que el sitio, el catálogo y el registro responden de verdad. Cierra el bloque de CI/CD. [6:00]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escaneo de OWASP ZAP corre en cada push. La corrida final reporta cero fallos y cero advertencias sobre 66 reglas, con una única regla ignorada y documentada: Cache-Control no-store, que es una decisión de diseño nuestra, no un problema. Como ZAP baseline es pasivo, no ataca activamente, la inyección SQL y el XSS almacenado se prueban aparte con pruebas unitarias que mandan las cargas reales — comillas, drop table, script tags — contra la API. En total se documentaron y corrigieron 13 hallazgos de seguridad durante el proyecto, incluida una fuga real por comparación de tiempo en el login. [7:30]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análisis oficial de calidad se hizo con SonarCloud, la versión en la nube de SonarQube, activado en el pipeline. El primer análisis encontró dos code smells reales: una expresión regular con retroceso exponencial en la validación de correo, un riesgo menor de denegación de servicio, y un control de accesibilidad no enfocable por teclado. Se corrigieron los dos, con pruebas, y el segundo análisis ya sale con quality gate aprobado, cero code smells y cero minutos de deuda técnica. Cierra el bloque de pruebas y calidad. [9:00]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Comparando el Gantt original contra lo ejecutado: casi todo llegó adelantado, porque se decidió validar seguridad y calidad desde el primer día en vez de dejarlo para el Sprint 6 — eso es shift-left. El único hito que sí costó fue el pipeline: el primer push quedó en rojo por tres causas que no se ven leyendo el YAML, y se corrigió el mismo día. [10:00]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alcance, la entrega se cumplió y en varios puntos se superó — el catálogo completo y el rediseño de interfaz no se pedían en este checklist. Hay dos desviaciones reales que no escondo: el pipeline no quedó verde a la primera, y el requisito de 1,000 usuarios concurrentes del acta original se midió pero no se pudo demostrar en esta máquina; el cuello de botella real, que es el costo de bcrypt, sí quedó identificado y documentado. [11:00]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las nueve lecciones documentadas en el informe, estas cinco son las que más cambiarían cómo empiezo el siguiente proyecto: validar el contexto de cada campo, no solo su formato; un pipeline escrito no es un pipeline probado; las advertencias de un escáner de seguridad son información, no ruido a ignorar; medir antes de afirmar que un requisito no funcional se cumple; y activar las herramientas de calidad desde el primer sprint, no al final. Cierra el bloque de cierre y evaluación. [12:00]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plan de mejora tiene seis acciones concretas con meta medible y fecha, no solo intenciones: desde hacer que SonarCloud bloquee un merge con code smells nuevos, hasta mover el JWT a una cookie httpOnly con protección CSRF, y validar por fin el requisito de 1,000 usuarios en Linux. [13:30]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propuesta de innovación, planteo un modelo que prediga la probabilidad de que un prospecto cierre una compra y sugiera un precio de referencia según kilometraje, año y zona, entrenado con el histórico que generará el módulo de Reportes. Se plantea como un spike técnico de dos semanas con una meta medible de AUC mayor o igual a 0.7, no como un compromiso directo al producto. [14:15]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esto cierro: el repositorio y la app en línea quedan disponibles para que cualquiera los revise cuando quiera, y el informe de cierre completo con todos los detalles que no alcanzamos a cubrir en los quince minutos está en el repositorio, en Word y en Markdown. Quedo abierto a preguntas o a mostrar cualquier parte en vivo. [15:00]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A84FF"/>
                </a:solidFill>
                <a:latin typeface="Helvetica Neue"/>
              </a:rPr>
              <a:t>ENTREGA FINAL ·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400" b="1" i="0">
                <a:solidFill>
                  <a:srgbClr val="F5F5F7"/>
                </a:solidFill>
                <a:latin typeface="Helvetica Neue"/>
              </a:rPr>
              <a:t>D</a:t>
            </a:r>
            <a:r>
              <a:rPr sz="6400" b="1" i="0">
                <a:solidFill>
                  <a:srgbClr val="0A84FF"/>
                </a:solidFill>
                <a:latin typeface="Helvetica Neue"/>
              </a:rPr>
              <a:t>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>
                <a:solidFill>
                  <a:srgbClr val="F5F5F7"/>
                </a:solidFill>
                <a:latin typeface="Helvetica Neue"/>
              </a:rPr>
              <a:t>Implementación, seguridad, calidad y despliegue continuo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98989D"/>
                </a:solidFill>
                <a:latin typeface="Helvetica Neue"/>
              </a:rPr>
              <a:t>Comparación planificado vs. ejecutado, lecciones aprendidas y plan de mejora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526280"/>
            <a:ext cx="2011680" cy="2794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Diego Villarreal Martínez  ·  Matrícula Al07064821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0" i="0">
                <a:solidFill>
                  <a:srgbClr val="98989D"/>
                </a:solidFill>
                <a:latin typeface="Helvetica Neue"/>
              </a:rPr>
              <a:t>Tecmilenio, campus Las Torres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0A84FF"/>
                </a:solidFill>
                <a:latin typeface="Helvetica Neue"/>
              </a:rPr>
              <a:t>github.com/WebbiestStew/finalproj_ids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A84FF"/>
                </a:solidFill>
                <a:latin typeface="Helvetica Neue"/>
              </a:rPr>
              <a:t>dauto-ym8c.onrender.com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01 · IMPLEMENTACIÓN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Objetivo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98989D"/>
                </a:solidFill>
                <a:latin typeface="Helvetica Neue"/>
              </a:rPr>
              <a:t>DAuto: comprar o vender un auto usado en México sin llamarle a cinco agencias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Clr>
                <a:srgbClr val="0A84FF"/>
              </a:buClr>
              <a:buFont typeface="Helvetica Neue"/>
              <a:buChar char="•"/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El problema:</a:t>
            </a:r>
            <a:r>
              <a:rPr sz="1800" b="0" i="0">
                <a:solidFill>
                  <a:srgbClr val="F5F5F7"/>
                </a:solidFill>
                <a:latin typeface="Helvetica Neue"/>
              </a:rPr>
              <a:t> el precio real de un auto usado no se sabe hasta llamar por teléfono; comparar financiamiento entre agencias se hace a mano.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Clr>
                <a:srgbClr val="0A84FF"/>
              </a:buClr>
              <a:buFont typeface="Helvetica Neue"/>
              <a:buChar char="•"/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La propuesta (adv_pr.pdf):</a:t>
            </a:r>
            <a:r>
              <a:rPr sz="1800" b="0" i="0">
                <a:solidFill>
                  <a:srgbClr val="F5F5F7"/>
                </a:solidFill>
                <a:latin typeface="Helvetica Neue"/>
              </a:rPr>
              <a:t> catálogo, precio real, historial del vehículo y financiamiento en un solo lugar, para compradores y concesionarias.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Clr>
                <a:srgbClr val="0A84FF"/>
              </a:buClr>
              <a:buFont typeface="Helvetica Neue"/>
              <a:buChar char="•"/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El objetivo de esta entrega:</a:t>
            </a:r>
            <a:r>
              <a:rPr sz="1800" b="0" i="0">
                <a:solidFill>
                  <a:srgbClr val="F5F5F7"/>
                </a:solidFill>
                <a:latin typeface="Helvetica Neue"/>
              </a:rPr>
              <a:t> priorizar calidad, seguridad y despliegue continuo sobre cantidad de funciones — un módulo bien hecho, medido y documentado.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Clr>
                <a:srgbClr val="0A84FF"/>
              </a:buClr>
              <a:buFont typeface="Helvetica Neue"/>
              <a:buChar char="•"/>
            </a:pPr>
            <a:r>
              <a:rPr sz="1800" b="1" i="0">
                <a:solidFill>
                  <a:srgbClr val="F5F5F7"/>
                </a:solidFill>
                <a:latin typeface="Helvetica Neue"/>
              </a:rPr>
              <a:t>Lo que se construyó:</a:t>
            </a:r>
            <a:r>
              <a:rPr sz="1800" b="0" i="0">
                <a:solidFill>
                  <a:srgbClr val="F5F5F7"/>
                </a:solidFill>
                <a:latin typeface="Helvetica Neue"/>
              </a:rPr>
              <a:t> el módulo de cuentas (JWT + roles) completo, y como adelanto del Sprint 2, el catálogo de vehículos de punta a punta.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0:30 – 1:15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2/14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01 · IMPLEMENTACIÓN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Módulo: cuentas, JWT 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50" b="0" i="0">
                <a:solidFill>
                  <a:srgbClr val="F5F5F7"/>
                </a:solidFill>
                <a:latin typeface="Helvetica Neue"/>
              </a:rPr>
              <a:t>JWT firmado con </a:t>
            </a:r>
            <a:r>
              <a:rPr sz="1650" b="1" i="0">
                <a:solidFill>
                  <a:srgbClr val="F5F5F7"/>
                </a:solidFill>
                <a:latin typeface="Helvetica Neue"/>
              </a:rPr>
              <a:t>HS256</a:t>
            </a:r>
            <a:r>
              <a:rPr sz="1650" b="0" i="0">
                <a:solidFill>
                  <a:srgbClr val="F5F5F7"/>
                </a:solidFill>
                <a:latin typeface="Helvetica Neue"/>
              </a:rPr>
              <a:t>, algoritmo fijado al verificar (un token HS512 o `alg: none` se rechaza), 2 h de vigencia.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50" b="0" i="0">
                <a:solidFill>
                  <a:srgbClr val="F5F5F7"/>
                </a:solidFill>
                <a:latin typeface="Helvetica Neue"/>
              </a:rPr>
              <a:t>Contraseñas con </a:t>
            </a:r>
            <a:r>
              <a:rPr sz="1650" b="1" i="0">
                <a:solidFill>
                  <a:srgbClr val="F5F5F7"/>
                </a:solidFill>
                <a:latin typeface="Helvetica Neue"/>
              </a:rPr>
              <a:t>bcrypt asíncrono</a:t>
            </a:r>
            <a:r>
              <a:rPr sz="1650" b="0" i="0">
                <a:solidFill>
                  <a:srgbClr val="F5F5F7"/>
                </a:solidFill>
                <a:latin typeface="Helvetica Neue"/>
              </a:rPr>
              <a:t> (factor 12; mínimo 10 en producción, según OWASP).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50" b="1" i="0">
                <a:solidFill>
                  <a:srgbClr val="F5F5F7"/>
                </a:solidFill>
                <a:latin typeface="Helvetica Neue"/>
              </a:rPr>
              <a:t>3 roles reales del dominio:</a:t>
            </a:r>
            <a:r>
              <a:rPr sz="1650" b="0" i="0">
                <a:solidFill>
                  <a:srgbClr val="F5F5F7"/>
                </a:solidFill>
                <a:latin typeface="Helvetica Neue"/>
              </a:rPr>
              <a:t> administrador, concesionaria y comprador. El registro público no permite auto-asignarse admin.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50" b="0" i="0">
                <a:solidFill>
                  <a:srgbClr val="F5F5F7"/>
                </a:solidFill>
                <a:latin typeface="Helvetica Neue"/>
              </a:rPr>
              <a:t>Validación con </a:t>
            </a:r>
            <a:r>
              <a:rPr sz="1650" b="1" i="0">
                <a:solidFill>
                  <a:srgbClr val="F5F5F7"/>
                </a:solidFill>
                <a:latin typeface="Helvetica Neue"/>
              </a:rPr>
              <a:t>zod</a:t>
            </a:r>
            <a:r>
              <a:rPr sz="1650" b="0" i="0">
                <a:solidFill>
                  <a:srgbClr val="F5F5F7"/>
                </a:solidFill>
                <a:latin typeface="Helvetica Neue"/>
              </a:rPr>
              <a:t>, consultas parametrizadas, `helmet`, límite de intentos de login, cuerpo máximo de 10 kB.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50" b="0" i="0">
                <a:solidFill>
                  <a:srgbClr val="F5F5F7"/>
                </a:solidFill>
                <a:latin typeface="Helvetica Neue"/>
              </a:rPr>
              <a:t>Frontend: rutas protegidas por rol, rutas solo para invitados, regreso a la página que se intentaba abrir, cierre de sesión automático si el token vence.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828800"/>
            <a:ext cx="4617720" cy="4206240"/>
          </a:xfrm>
          <a:prstGeom prst="roundRect">
            <a:avLst>
              <a:gd name="adj" fmla="val 45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i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938528"/>
            <a:ext cx="4398264" cy="1704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57241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98989D"/>
                </a:solidFill>
                <a:latin typeface="Helvetica Neue"/>
              </a:rPr>
              <a:t>dauto-ym8c.onrender.com — landing en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1:15 – 2:15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3/14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01 · IMPLEMENTACIÓN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Catálogo de vehículos y pruebas unitarias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98989D"/>
                </a:solidFill>
                <a:latin typeface="Helvetica Neue"/>
              </a:rPr>
              <a:t>Adelanto del Sprint 2 — funcionalidad central del acta (secciones 1.1 y 2.1)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532120" cy="2788920"/>
          </a:xfrm>
          <a:prstGeom prst="roundRect">
            <a:avLst>
              <a:gd name="adj" fmla="val 45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ta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72" y="1984247"/>
            <a:ext cx="4567936" cy="25694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874519"/>
            <a:ext cx="5257800" cy="2788920"/>
          </a:xfrm>
          <a:prstGeom prst="roundRect">
            <a:avLst>
              <a:gd name="adj" fmla="val 45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tal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984247"/>
            <a:ext cx="5038344" cy="2456192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800600"/>
          <a:ext cx="10881357" cy="1234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2587"/>
                <a:gridCol w="1404046"/>
                <a:gridCol w="1404046"/>
                <a:gridCol w="1404046"/>
                <a:gridCol w="1228540"/>
                <a:gridCol w="280809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Pruebas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Statements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Branches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Lines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Umbral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Backend (Jest)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130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100 %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93.9 %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100 %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80 % — rompe la build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Frontend (Vitest)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143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97.4 %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87.6 %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97.8 %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2:15 – 3:00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4/14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02 · INTEGRACIÓN Y DESPLIEGUE CONTINUO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Pipeline de CI/CD (GitHub Actions)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98989D"/>
                </a:solidFill>
                <a:latin typeface="Helvetica Neue"/>
              </a:rPr>
              <a:t>Dos workflows disparados en cada push a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30428" cy="31089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 i="0">
                <a:solidFill>
                  <a:srgbClr val="F5F5F7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385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50" b="1" i="0">
                <a:solidFill>
                  <a:srgbClr val="F5F5F7"/>
                </a:solidFill>
                <a:latin typeface="Consolas"/>
              </a:rPr>
              <a:t>lint-and-test  </a:t>
            </a:r>
            <a:r>
              <a:rPr sz="1450" b="0" i="0">
                <a:solidFill>
                  <a:srgbClr val="98989D"/>
                </a:solidFill>
                <a:latin typeface="Helvetica Neue"/>
              </a:rPr>
              <a:t>npm audit → ESLint + sonarjs → jscpd (duplicación) → pruebas con cobertura (falla bajo 80 %)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07208"/>
            <a:ext cx="230428" cy="31089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 i="0">
                <a:solidFill>
                  <a:srgbClr val="F5F5F7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79776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50" b="1" i="0">
                <a:solidFill>
                  <a:srgbClr val="F5F5F7"/>
                </a:solidFill>
                <a:latin typeface="Consolas"/>
              </a:rPr>
              <a:t>frontend  </a:t>
            </a:r>
            <a:r>
              <a:rPr sz="1450" b="0" i="0">
                <a:solidFill>
                  <a:srgbClr val="98989D"/>
                </a:solidFill>
                <a:latin typeface="Helvetica Neue"/>
              </a:rPr>
              <a:t>npm audit → oxlint → pruebas con cobertura → build de producción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48456"/>
            <a:ext cx="230428" cy="31089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 i="0">
                <a:solidFill>
                  <a:srgbClr val="F5F5F7"/>
                </a:solidFill>
                <a:latin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2102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50" b="1" i="0">
                <a:solidFill>
                  <a:srgbClr val="F5F5F7"/>
                </a:solidFill>
                <a:latin typeface="Consolas"/>
              </a:rPr>
              <a:t>build-and-push  </a:t>
            </a:r>
            <a:r>
              <a:rPr sz="1450" b="0" i="0">
                <a:solidFill>
                  <a:srgbClr val="98989D"/>
                </a:solidFill>
                <a:latin typeface="Helvetica Neue"/>
              </a:rPr>
              <a:t>imagen Docker de la app completa (usuario no root) publicada a GHCR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9704"/>
            <a:ext cx="230428" cy="31089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 i="0">
                <a:solidFill>
                  <a:srgbClr val="F5F5F7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62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50" b="1" i="0">
                <a:solidFill>
                  <a:srgbClr val="F5F5F7"/>
                </a:solidFill>
                <a:latin typeface="Consolas"/>
              </a:rPr>
              <a:t>deploy-test-env  </a:t>
            </a:r>
            <a:r>
              <a:rPr sz="1450" b="0" i="0">
                <a:solidFill>
                  <a:srgbClr val="98989D"/>
                </a:solidFill>
                <a:latin typeface="Helvetica Neue"/>
              </a:rPr>
              <a:t>corre la imagen publicada y valida /health, frontend, catálogo y un registro/login reales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30952"/>
            <a:ext cx="230428" cy="31089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00" b="1" i="0">
                <a:solidFill>
                  <a:srgbClr val="F5F5F7"/>
                </a:solidFill>
                <a:latin typeface="Helvetica Neue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0352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50" b="1" i="0">
                <a:solidFill>
                  <a:srgbClr val="F5F5F7"/>
                </a:solidFill>
                <a:latin typeface="Consolas"/>
              </a:rPr>
              <a:t>deploy-hosting  </a:t>
            </a:r>
            <a:r>
              <a:rPr sz="1450" b="0" i="0">
                <a:solidFill>
                  <a:srgbClr val="98989D"/>
                </a:solidFill>
                <a:latin typeface="Helvetica Neue"/>
              </a:rPr>
              <a:t>dispara el despliegue en Render si existe el secreto RENDER_DEPLOY_HOOK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3:00 – 4:30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5/14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02 · INTEGRACIÓN Y DESPLIEGUE CONTINUO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Evidencia: pipeline en verde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4160520"/>
          </a:xfrm>
          <a:prstGeom prst="roundRect">
            <a:avLst>
              <a:gd name="adj" fmla="val 45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ons_run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629" y="1938528"/>
            <a:ext cx="7016261" cy="3648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7842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98989D"/>
                </a:solidFill>
                <a:latin typeface="Helvetica Neue"/>
              </a:rPr>
              <a:t>GitHub Actions — corrida real: 143 pruebas de frontend, ambos jobs en 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4:30 – 6:00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6/14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03 · PRUEBAS DE SEGURIDAD Y CALIDAD DE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Pruebas de seguridad — OWASP ZAP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943600" cy="4160520"/>
          </a:xfrm>
          <a:prstGeom prst="roundRect">
            <a:avLst>
              <a:gd name="adj" fmla="val 45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ons_run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38528"/>
            <a:ext cx="5724144" cy="22896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7842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98989D"/>
                </a:solidFill>
                <a:latin typeface="Helvetica Neue"/>
              </a:rPr>
              <a:t>Job del escaneo ZAP en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874519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F5F5F7"/>
                </a:solidFill>
                <a:latin typeface="Helvetica Neue"/>
              </a:rPr>
              <a:t>Resultado final del escaneo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30D158"/>
                </a:solidFill>
                <a:latin typeface="Helvetica Neue"/>
              </a:rPr>
              <a:t>0  </a:t>
            </a:r>
            <a:r>
              <a:rPr sz="1400" b="0" i="0">
                <a:solidFill>
                  <a:srgbClr val="98989D"/>
                </a:solidFill>
                <a:latin typeface="Helvetica Neue"/>
              </a:rPr>
              <a:t>Fallos nuevos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30D158"/>
                </a:solidFill>
                <a:latin typeface="Helvetica Neue"/>
              </a:rPr>
              <a:t>0  </a:t>
            </a:r>
            <a:r>
              <a:rPr sz="1400" b="0" i="0">
                <a:solidFill>
                  <a:srgbClr val="98989D"/>
                </a:solidFill>
                <a:latin typeface="Helvetica Neue"/>
              </a:rPr>
              <a:t>Advertencias nuevas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5F5F7"/>
                </a:solidFill>
                <a:latin typeface="Helvetica Neue"/>
              </a:rPr>
              <a:t>66  </a:t>
            </a:r>
            <a:r>
              <a:rPr sz="1400" b="0" i="0">
                <a:solidFill>
                  <a:srgbClr val="98989D"/>
                </a:solidFill>
                <a:latin typeface="Helvetica Neue"/>
              </a:rPr>
              <a:t>Reglas superadas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98989D"/>
                </a:solidFill>
                <a:latin typeface="Helvetica Neue"/>
              </a:rPr>
              <a:t>1  </a:t>
            </a:r>
            <a:r>
              <a:rPr sz="1400" b="0" i="0">
                <a:solidFill>
                  <a:srgbClr val="98989D"/>
                </a:solidFill>
                <a:latin typeface="Helvetica Neue"/>
              </a:rPr>
              <a:t>Ignoradas (justificada)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457200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98989D"/>
                </a:solidFill>
                <a:latin typeface="Helvetica Neue"/>
              </a:rPr>
              <a:t>ZAP baseline es </a:t>
            </a:r>
            <a:r>
              <a:rPr sz="1300" b="1" i="0">
                <a:solidFill>
                  <a:srgbClr val="98989D"/>
                </a:solidFill>
                <a:latin typeface="Helvetica Neue"/>
              </a:rPr>
              <a:t>pasivo</a:t>
            </a:r>
            <a:r>
              <a:rPr sz="1300" b="0" i="0">
                <a:solidFill>
                  <a:srgbClr val="98989D"/>
                </a:solidFill>
                <a:latin typeface="Helvetica Neue"/>
              </a:rPr>
              <a:t> (cabeceras, cookies, contenido); SQLi y XSS almacenado se cubren con pruebas dirigidas que envían las cargas reales a la API y verifican que se rechazan.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6:00 – 7:30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7/14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03 · PRUEBAS DE SEGURIDAD Y CALIDAD DE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Calidad de código — SonarCloud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98989D"/>
                </a:solidFill>
                <a:latin typeface="Helvetica Neue"/>
              </a:rPr>
              <a:t>4,616 líneas de código analizadas · workflow security-scan.yml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58" cy="26883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24920"/>
                <a:gridCol w="2778219"/>
                <a:gridCol w="27782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Métrica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Primer análisis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Actual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Quality gate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Sin calcular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Aprobado (OK)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Code smells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Deuda técnica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25 min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0 min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Bugs / vulnerabilidades / hotspots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0 / 0 / 0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0 / 0 / 0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Ratings (seguridad / fiabilidad / mantenibilidad)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A / A / 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A / A / 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5F5F7"/>
                          </a:solidFill>
                          <a:latin typeface="Helvetica Neue"/>
                        </a:rPr>
                        <a:t>Cobertura / duplicación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93.6 % / 0.0 %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E3E3E6"/>
                          </a:solidFill>
                          <a:latin typeface="Helvetica Neue"/>
                        </a:rPr>
                        <a:t>93.6 % / 0.0 %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6636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A84FF"/>
              </a:buClr>
              <a:buFont typeface="Helvetica Neue"/>
              <a:buChar char="•"/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S8786</a:t>
            </a:r>
            <a:r>
              <a:rPr sz="1400" b="0" i="0">
                <a:solidFill>
                  <a:srgbClr val="F5F5F7"/>
                </a:solidFill>
                <a:latin typeface="Helvetica Neue"/>
              </a:rPr>
              <a:t> — regex del correo con retroceso super-lineal (riesgo de ReDoS) → comprobación lineal, con prueba de 40,000 caracteres.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A84FF"/>
              </a:buClr>
              <a:buFont typeface="Helvetica Neue"/>
              <a:buChar char="•"/>
            </a:pPr>
            <a:r>
              <a:rPr sz="1400" b="1" i="0">
                <a:solidFill>
                  <a:srgbClr val="F5F5F7"/>
                </a:solidFill>
                <a:latin typeface="Helvetica Neue"/>
              </a:rPr>
              <a:t>S6852</a:t>
            </a:r>
            <a:r>
              <a:rPr sz="1400" b="0" i="0">
                <a:solidFill>
                  <a:srgbClr val="F5F5F7"/>
                </a:solidFill>
                <a:latin typeface="Helvetica Neue"/>
              </a:rPr>
              <a:t> — grupo de selección de rol no enfocable por teclado → corregido sin cambiar la navegación.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7:30 – 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8/14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04 · CIERRE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Línea de tiempo: planificado vs. real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58" cy="4206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1085"/>
                <a:gridCol w="2407380"/>
                <a:gridCol w="2985151"/>
                <a:gridCol w="3177742"/>
              </a:tblGrid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Hito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Planificado (Gantt)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Real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Diferencia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Sprint 1 — UI/UX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14 → 28-sep-2026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Interfaz funcional el 18-sep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~10 días antes de que cierre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Sprint 2 — autenticación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28-sep → 19-oct-2026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Completa el 17-sep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11 días antes de iniciar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Sprint 6 — QA y seguridad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30-nov → 10-dic-2026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Ejecutadas el 17–18-sep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Adelantadas ~2.5 meses (shift-left)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Pipeline CI/CD en verde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Implícito desde el 1er push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1er push en rojo; verde el mismo día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"Escribir" ≠ "tener" un pipeline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Catálogo de vehículos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28-sep → 19-oct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Funcional el 18-sep (sin fotos)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10 días antes de su ventana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9:00 – 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9/14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04 · CIERRE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Alcance: planificado vs. ejecutado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8" cy="42428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81713"/>
                <a:gridCol w="3436218"/>
                <a:gridCol w="4963427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Punto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Planificado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Ejecutado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Módulo + JWT/roles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Auth con roles admin/usuario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3 roles reales + frontend completo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Cobertura ≥ 80 %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Backend 100 %; frontend también, 97.8 %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CI/CD a entorno de prueba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Verde desde el 1er push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Verde tras 3 correcciones; cubre también el frontend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OWASP ZAP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XSS / SQLi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ZAP baseline + pruebas dirigidas; 2 advertencias reales corregidas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SonarQube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Deuda técnica y code smells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SonarCloud activado: 2→0 smells, 25→0 min de deuda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1,000 usuarios concurrentes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Sección 2.1 del acta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Medido; no demostrado — cuello de botella identificado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5F5F7"/>
                          </a:solidFill>
                          <a:latin typeface="Helvetica Neue"/>
                        </a:rPr>
                        <a:t>Catálogo + diseño de interfaz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No pedido en esta entrega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E3E3E6"/>
                          </a:solidFill>
                          <a:latin typeface="Helvetica Neue"/>
                        </a:rPr>
                        <a:t>Ampliación: primer entregable de negocio funcional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10:00 – 11:00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10/14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04 · CIERRE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0A84FF"/>
              </a:buClr>
              <a:buFont typeface="Helvetica Neue"/>
              <a:buChar char="•"/>
            </a:pPr>
            <a:r>
              <a:rPr sz="1550" b="1" i="0">
                <a:solidFill>
                  <a:srgbClr val="F5F5F7"/>
                </a:solidFill>
                <a:latin typeface="Helvetica Neue"/>
              </a:rPr>
              <a:t>Validar el formato no basta.</a:t>
            </a:r>
            <a:r>
              <a:rPr sz="1550" b="0" i="0">
                <a:solidFill>
                  <a:srgbClr val="F5F5F7"/>
                </a:solidFill>
                <a:latin typeface="Helvetica Neue"/>
              </a:rPr>
              <a:t> El SQLi se bloqueó gratis con consultas parametrizadas, pero `&lt;script&gt;` en el nombre sí pasaba: cada campo libre necesita una regla pensada para dónde se va a renderizar.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0A84FF"/>
              </a:buClr>
              <a:buFont typeface="Helvetica Neue"/>
              <a:buChar char="•"/>
            </a:pPr>
            <a:r>
              <a:rPr sz="1550" b="1" i="0">
                <a:solidFill>
                  <a:srgbClr val="F5F5F7"/>
                </a:solidFill>
                <a:latin typeface="Helvetica Neue"/>
              </a:rPr>
              <a:t>"Escribir" un pipeline no es "tener" un pipeline.</a:t>
            </a:r>
            <a:r>
              <a:rPr sz="1550" b="0" i="0">
                <a:solidFill>
                  <a:srgbClr val="F5F5F7"/>
                </a:solidFill>
                <a:latin typeface="Helvetica Neue"/>
              </a:rPr>
              <a:t> El primer push falló por 3 causas invisibles leyendo el YAML (mayúsculas en el nombre de imagen, un permiso faltante, un directorio de trabajo heredado).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0A84FF"/>
              </a:buClr>
              <a:buFont typeface="Helvetica Neue"/>
              <a:buChar char="•"/>
            </a:pPr>
            <a:r>
              <a:rPr sz="1550" b="1" i="0">
                <a:solidFill>
                  <a:srgbClr val="F5F5F7"/>
                </a:solidFill>
                <a:latin typeface="Helvetica Neue"/>
              </a:rPr>
              <a:t>Las advertencias de un escáner son hallazgos, no ruido.</a:t>
            </a:r>
            <a:r>
              <a:rPr sz="1550" b="0" i="0">
                <a:solidFill>
                  <a:srgbClr val="F5F5F7"/>
                </a:solidFill>
                <a:latin typeface="Helvetica Neue"/>
              </a:rPr>
              <a:t> Las "advertencias menores" de ZAP eran mejoras reales de seguridad (CORS abierto, respuestas cacheables).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0A84FF"/>
              </a:buClr>
              <a:buFont typeface="Helvetica Neue"/>
              <a:buChar char="•"/>
            </a:pPr>
            <a:r>
              <a:rPr sz="1550" b="1" i="0">
                <a:solidFill>
                  <a:srgbClr val="F5F5F7"/>
                </a:solidFill>
                <a:latin typeface="Helvetica Neue"/>
              </a:rPr>
              <a:t>Medir antes de afirmar.</a:t>
            </a:r>
            <a:r>
              <a:rPr sz="1550" b="0" i="0">
                <a:solidFill>
                  <a:srgbClr val="F5F5F7"/>
                </a:solidFill>
                <a:latin typeface="Helvetica Neue"/>
              </a:rPr>
              <a:t> El requisito de 1,000 usuarios se daba por cubierto sin probarlo; medirlo mostró que el límite real es el hash de contraseñas, no la API.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0A84FF"/>
              </a:buClr>
              <a:buFont typeface="Helvetica Neue"/>
              <a:buChar char="•"/>
            </a:pPr>
            <a:r>
              <a:rPr sz="1550" b="1" i="0">
                <a:solidFill>
                  <a:srgbClr val="F5F5F7"/>
                </a:solidFill>
                <a:latin typeface="Helvetica Neue"/>
              </a:rPr>
              <a:t>Activar las herramientas de calidad desde el Sprint 0.</a:t>
            </a:r>
            <a:r>
              <a:rPr sz="1550" b="0" i="0">
                <a:solidFill>
                  <a:srgbClr val="F5F5F7"/>
                </a:solidFill>
                <a:latin typeface="Helvetica Neue"/>
              </a:rPr>
              <a:t> SonarCloud se activó el último día y encontró 2 problemas reales que las herramientas locales no habían visto.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11:00 – 12:00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11/14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05 · MEJORA CONTINUA 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Plan de mejora continua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8" cy="37490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50386"/>
                <a:gridCol w="4550386"/>
                <a:gridCol w="1780586"/>
              </a:tblGrid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Acción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Meta medible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Fecha</a:t>
                      </a:r>
                    </a:p>
                  </a:txBody>
                  <a:tcPr marL="82296" marR="82296" marT="36576" marB="36576" anchor="ctr">
                    <a:solidFill>
                      <a:srgbClr val="0A84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Quality gate de SonarCloud bloquea el merge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0 code smells nuevos por PR; cobertura nueva ≥ 80 %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19-oct-2026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Validar 1,000 usuarios en Linux con rampa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p99 &lt; 2 s, 0 errores; login sostenido ≥ 50/s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30-nov-2026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Reducir el costo del login (Argon2 en hilos)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≥ 50 logins/s por instancia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19-oct-2026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JWT de localStorage a cookie httpOnly + CSRF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Token no legible desde JavaScript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19-oct-2026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ZAP full scan autenticado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0 alertas Alta/Media en /api/*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10-dic-2026</a:t>
                      </a:r>
                    </a:p>
                  </a:txBody>
                  <a:tcPr marL="82296" marR="82296" marT="36576" marB="36576" anchor="ctr">
                    <a:solidFill>
                      <a:srgbClr val="1C1C1E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5F5F7"/>
                          </a:solidFill>
                          <a:latin typeface="Helvetica Neue"/>
                        </a:rPr>
                        <a:t>Desplegar en host persistente con disco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Datos que sobreviven a un redespliegue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E3E3E6"/>
                          </a:solidFill>
                          <a:latin typeface="Helvetica Neue"/>
                        </a:rPr>
                        <a:t>19-oct-2026</a:t>
                      </a:r>
                    </a:p>
                  </a:txBody>
                  <a:tcPr marL="82296" marR="82296" marT="36576" marB="36576" anchor="ctr"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12:00 – 13:30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12/14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A84FF"/>
                </a:solidFill>
                <a:latin typeface="Helvetica Neue"/>
              </a:rPr>
              <a:t>05 · MEJORA CONTINUA 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F5F5F7"/>
                </a:solidFill>
                <a:latin typeface="Helvetica Neue"/>
              </a:rPr>
              <a:t>Propuesta de innovación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379476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F5F5F7"/>
                </a:solidFill>
                <a:latin typeface="Helvetica Neue"/>
              </a:rPr>
              <a:t>Predicción de probabilidad de cierre de venta y precio sugerido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00" b="1" i="0">
                <a:solidFill>
                  <a:srgbClr val="F5F5F7"/>
                </a:solidFill>
                <a:latin typeface="Helvetica Neue"/>
              </a:rPr>
              <a:t>Qué:</a:t>
            </a:r>
            <a:r>
              <a:rPr sz="1600" b="0" i="0">
                <a:solidFill>
                  <a:srgbClr val="F5F5F7"/>
                </a:solidFill>
                <a:latin typeface="Helvetica Neue"/>
              </a:rPr>
              <a:t> un modelo que, por cada prospecto, estima la probabilidad de que cierre la compra y sugiere un precio de referencia a partir de kilometraje, año y zona.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00" b="1" i="0">
                <a:solidFill>
                  <a:srgbClr val="F5F5F7"/>
                </a:solidFill>
                <a:latin typeface="Helvetica Neue"/>
              </a:rPr>
              <a:t>Con qué datos:</a:t>
            </a:r>
            <a:r>
              <a:rPr sz="1600" b="0" i="0">
                <a:solidFill>
                  <a:srgbClr val="F5F5F7"/>
                </a:solidFill>
                <a:latin typeface="Helvetica Neue"/>
              </a:rPr>
              <a:t> el histórico que generará el módulo de Reportes (todavía no construido) sobre las mismas concesionarias del catálogo actual.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00" b="1" i="0">
                <a:solidFill>
                  <a:srgbClr val="F5F5F7"/>
                </a:solidFill>
                <a:latin typeface="Helvetica Neue"/>
              </a:rPr>
              <a:t>Meta medible:</a:t>
            </a:r>
            <a:r>
              <a:rPr sz="1600" b="0" i="0">
                <a:solidFill>
                  <a:srgbClr val="F5F5F7"/>
                </a:solidFill>
                <a:latin typeface="Helvetica Neue"/>
              </a:rPr>
              <a:t> prototipo offline con AUC ≥ 0.7 sobre datos históricos simulados.</a:t>
            </a:r>
          </a:p>
          <a:p>
            <a:pPr algn="l" marL="228600" indent="-228600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0A84FF"/>
              </a:buClr>
              <a:buFont typeface="Helvetica Neue"/>
              <a:buChar char="•"/>
            </a:pPr>
            <a:r>
              <a:rPr sz="1600" b="1" i="0">
                <a:solidFill>
                  <a:srgbClr val="F5F5F7"/>
                </a:solidFill>
                <a:latin typeface="Helvetica Neue"/>
              </a:rPr>
              <a:t>Cuándo:</a:t>
            </a:r>
            <a:r>
              <a:rPr sz="1600" b="0" i="0">
                <a:solidFill>
                  <a:srgbClr val="F5F5F7"/>
                </a:solidFill>
                <a:latin typeface="Helvetica Neue"/>
              </a:rPr>
              <a:t> Sprint 5 (16–30-nov-2026), como *spike* técnico — se valida antes de comprometerlo al producto.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13:30 – 14:15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13/14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800" b="1" i="0">
                <a:solidFill>
                  <a:srgbClr val="F5F5F7"/>
                </a:solidFill>
                <a:latin typeface="Helvetica Neue"/>
              </a:rPr>
              <a:t>Gracias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98989D"/>
                </a:solidFill>
                <a:latin typeface="Helvetica Neue"/>
              </a:rPr>
              <a:t>Preguntas, comentarios o algo que quieran ver en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794760"/>
            <a:ext cx="10515600" cy="1737360"/>
          </a:xfrm>
          <a:prstGeom prst="roundRect">
            <a:avLst>
              <a:gd name="adj" fmla="val 9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041648"/>
            <a:ext cx="9784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 i="0">
                <a:solidFill>
                  <a:srgbClr val="98989D"/>
                </a:solidFill>
                <a:latin typeface="Helvetica Neue"/>
              </a:rPr>
              <a:t>Repositorio:  </a:t>
            </a:r>
            <a:r>
              <a:rPr sz="1450" b="0" i="0">
                <a:solidFill>
                  <a:srgbClr val="0A84FF"/>
                </a:solidFill>
                <a:latin typeface="Helvetica Neue"/>
              </a:rPr>
              <a:t>github.com/WebbiestStew/finalproj_ids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98989D"/>
                </a:solidFill>
                <a:latin typeface="Helvetica Neue"/>
              </a:rPr>
              <a:t>App en línea:  </a:t>
            </a:r>
            <a:r>
              <a:rPr sz="1450" b="0" i="0">
                <a:solidFill>
                  <a:srgbClr val="0A84FF"/>
                </a:solidFill>
                <a:latin typeface="Helvetica Neue"/>
              </a:rPr>
              <a:t>dauto-ym8c.onrender.com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98989D"/>
                </a:solidFill>
                <a:latin typeface="Helvetica Neue"/>
              </a:rPr>
              <a:t>Informe de cierre:  </a:t>
            </a:r>
            <a:r>
              <a:rPr sz="1450" b="0" i="0">
                <a:solidFill>
                  <a:srgbClr val="0A84FF"/>
                </a:solidFill>
                <a:latin typeface="Helvetica Neue"/>
              </a:rPr>
              <a:t>docs/informe-cierre.md · docs/informe-cierre.docx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DAuto · Entrega final · 14:15 – 15:00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98989D"/>
                </a:solidFill>
                <a:latin typeface="Helvetica Neue"/>
              </a:rPr>
              <a:t>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27080" cy="9525"/>
          </a:xfrm>
          <a:prstGeom prst="rect">
            <a:avLst/>
          </a:prstGeom>
          <a:solidFill>
            <a:srgbClr val="38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DAuto — Entrega final</dc:title>
  <dc:subject/>
  <dc:creator>Diego Villarreal Martínez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